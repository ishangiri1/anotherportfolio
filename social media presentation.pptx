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181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528406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0364027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70107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685747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17072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803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511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0037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2386E9-ED26-DC09-272B-545B842349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222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2093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25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5785E4-6252-08D0-AC1B-070848ECCD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396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1132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3094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04C22C-687C-E653-CE78-4898D941A3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393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0910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84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8496C-6C8D-0E09-1FAD-4B83035BAF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215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33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653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FB593-8639-5589-E56B-F693F86993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7685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4380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16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46A772-44E8-667E-4F08-CAD1EA59F2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306436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199" cy="1470025"/>
          </a:xfrm>
        </p:spPr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6980740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399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063257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0179991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9183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6607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876332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8544496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444122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0914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470724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019072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903708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63459016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9195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485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6530195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583498" y="1600201"/>
            <a:ext cx="4704522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238873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576053" y="1600201"/>
            <a:ext cx="5006346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7393242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70644598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61803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460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31865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535113"/>
            <a:ext cx="470452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953237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583498" y="2174874"/>
            <a:ext cx="470452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5287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480042" y="1535113"/>
            <a:ext cx="510235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76738549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480042" y="2174874"/>
            <a:ext cx="510235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6993045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23485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169235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167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608610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3644582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69893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46541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42964917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7338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653355" name="Title 1"/>
          <p:cNvSpPr>
            <a:spLocks noGrp="1"/>
          </p:cNvSpPr>
          <p:nvPr>
            <p:ph type="title"/>
          </p:nvPr>
        </p:nvSpPr>
        <p:spPr bwMode="auto">
          <a:xfrm>
            <a:off x="1583498" y="273049"/>
            <a:ext cx="355239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08395322" name="Content Placeholder 2"/>
          <p:cNvSpPr>
            <a:spLocks noGrp="1"/>
          </p:cNvSpPr>
          <p:nvPr>
            <p:ph idx="1"/>
          </p:nvPr>
        </p:nvSpPr>
        <p:spPr bwMode="auto">
          <a:xfrm>
            <a:off x="5327914" y="273050"/>
            <a:ext cx="625448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8775339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1435101"/>
            <a:ext cx="355239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2879008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8244153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539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52854" name="Title 1"/>
          <p:cNvSpPr>
            <a:spLocks noGrp="1"/>
          </p:cNvSpPr>
          <p:nvPr>
            <p:ph type="title"/>
          </p:nvPr>
        </p:nvSpPr>
        <p:spPr bwMode="auto">
          <a:xfrm>
            <a:off x="1583498" y="4800600"/>
            <a:ext cx="998510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4734368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583498" y="612774"/>
            <a:ext cx="9985109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95118390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583498" y="5367337"/>
            <a:ext cx="998510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977797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4200292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291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2357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7580568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9451454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9576599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280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31424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8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9936865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5073662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2894127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370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8E3F0E9-0FC2-4DDE-87CF-3BA6A04EA4CC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8817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83498" y="1600201"/>
            <a:ext cx="9998901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95971102" name="Shape 105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6343" y="6641"/>
                </a:moveTo>
                <a:lnTo>
                  <a:pt x="6343" y="6641"/>
                </a:lnTo>
                <a:cubicBezTo>
                  <a:pt x="7781" y="2374"/>
                  <a:pt x="8594" y="0"/>
                  <a:pt x="8594" y="0"/>
                </a:cubicBezTo>
                <a:lnTo>
                  <a:pt x="0" y="0"/>
                </a:lnTo>
                <a:lnTo>
                  <a:pt x="0" y="43200"/>
                </a:lnTo>
                <a:lnTo>
                  <a:pt x="43200" y="43200"/>
                </a:lnTo>
                <a:lnTo>
                  <a:pt x="43200" y="37760"/>
                </a:lnTo>
                <a:lnTo>
                  <a:pt x="43200" y="37760"/>
                </a:lnTo>
                <a:cubicBezTo>
                  <a:pt x="43200" y="37760"/>
                  <a:pt x="34824" y="39282"/>
                  <a:pt x="21228" y="41101"/>
                </a:cubicBezTo>
                <a:lnTo>
                  <a:pt x="21228" y="41101"/>
                </a:lnTo>
                <a:cubicBezTo>
                  <a:pt x="3446" y="43478"/>
                  <a:pt x="-5241" y="41016"/>
                  <a:pt x="6343" y="6641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690846392" name="Shape 105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</p:spPr>
      </p:sp>
      <p:sp>
        <p:nvSpPr>
          <p:cNvPr id="1784355385" name="Shape 106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361" y="36777"/>
                </a:moveTo>
                <a:lnTo>
                  <a:pt x="22361" y="36777"/>
                </a:lnTo>
                <a:cubicBezTo>
                  <a:pt x="5219" y="39070"/>
                  <a:pt x="-2372" y="36412"/>
                  <a:pt x="7775" y="6299"/>
                </a:cubicBezTo>
                <a:lnTo>
                  <a:pt x="7775" y="6299"/>
                </a:lnTo>
                <a:cubicBezTo>
                  <a:pt x="9119" y="2311"/>
                  <a:pt x="9892" y="58"/>
                  <a:pt x="9911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612"/>
                </a:lnTo>
                <a:lnTo>
                  <a:pt x="43200" y="33612"/>
                </a:lnTo>
                <a:cubicBezTo>
                  <a:pt x="43110" y="33630"/>
                  <a:pt x="35168" y="35065"/>
                  <a:pt x="22361" y="36777"/>
                </a:cubicBezTo>
                <a:close/>
              </a:path>
            </a:pathLst>
          </a:custGeom>
          <a:solidFill>
            <a:schemeClr val="accent1">
              <a:alpha val="9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775333049" name="Shape 1061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276" y="37156"/>
                </a:moveTo>
                <a:lnTo>
                  <a:pt x="22276" y="37156"/>
                </a:lnTo>
                <a:cubicBezTo>
                  <a:pt x="5093" y="39454"/>
                  <a:pt x="-2596" y="36819"/>
                  <a:pt x="7680" y="6325"/>
                </a:cubicBezTo>
                <a:lnTo>
                  <a:pt x="7680" y="6325"/>
                </a:lnTo>
                <a:cubicBezTo>
                  <a:pt x="9010" y="2380"/>
                  <a:pt x="9781" y="117"/>
                  <a:pt x="981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3980"/>
                </a:lnTo>
                <a:lnTo>
                  <a:pt x="43200" y="33980"/>
                </a:lnTo>
                <a:cubicBezTo>
                  <a:pt x="43020" y="34016"/>
                  <a:pt x="35046" y="35449"/>
                  <a:pt x="22276" y="37156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37981989" name="Shape 1062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92" y="37535"/>
                </a:moveTo>
                <a:lnTo>
                  <a:pt x="22192" y="37535"/>
                </a:lnTo>
                <a:cubicBezTo>
                  <a:pt x="4968" y="39839"/>
                  <a:pt x="-2820" y="37226"/>
                  <a:pt x="7585" y="6350"/>
                </a:cubicBezTo>
                <a:lnTo>
                  <a:pt x="7585" y="6350"/>
                </a:lnTo>
                <a:cubicBezTo>
                  <a:pt x="8900" y="2448"/>
                  <a:pt x="9670" y="176"/>
                  <a:pt x="9726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348"/>
                </a:lnTo>
                <a:lnTo>
                  <a:pt x="43200" y="34348"/>
                </a:lnTo>
                <a:cubicBezTo>
                  <a:pt x="42885" y="34402"/>
                  <a:pt x="34924" y="35833"/>
                  <a:pt x="22192" y="37535"/>
                </a:cubicBezTo>
                <a:close/>
              </a:path>
            </a:pathLst>
          </a:custGeom>
          <a:solidFill>
            <a:schemeClr val="accent1">
              <a:alpha val="26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155108774" name="Shape 1063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07" y="37914"/>
                </a:moveTo>
                <a:lnTo>
                  <a:pt x="22107" y="37914"/>
                </a:lnTo>
                <a:cubicBezTo>
                  <a:pt x="4842" y="40223"/>
                  <a:pt x="-3044" y="37634"/>
                  <a:pt x="7490" y="6376"/>
                </a:cubicBezTo>
                <a:lnTo>
                  <a:pt x="7490" y="6376"/>
                </a:lnTo>
                <a:cubicBezTo>
                  <a:pt x="8790" y="2517"/>
                  <a:pt x="9559" y="235"/>
                  <a:pt x="9634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4717"/>
                </a:lnTo>
                <a:lnTo>
                  <a:pt x="43200" y="34717"/>
                </a:lnTo>
                <a:cubicBezTo>
                  <a:pt x="42795" y="34789"/>
                  <a:pt x="34802" y="36217"/>
                  <a:pt x="22107" y="37914"/>
                </a:cubicBezTo>
                <a:close/>
              </a:path>
            </a:pathLst>
          </a:custGeom>
          <a:solidFill>
            <a:schemeClr val="accent1">
              <a:alpha val="36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27139326" name="Shape 1064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022" y="38293"/>
                </a:moveTo>
                <a:lnTo>
                  <a:pt x="22022" y="38293"/>
                </a:lnTo>
                <a:cubicBezTo>
                  <a:pt x="4717" y="40608"/>
                  <a:pt x="-3267" y="38041"/>
                  <a:pt x="7394" y="6401"/>
                </a:cubicBezTo>
                <a:lnTo>
                  <a:pt x="7394" y="6401"/>
                </a:lnTo>
                <a:cubicBezTo>
                  <a:pt x="8680" y="2586"/>
                  <a:pt x="9448" y="293"/>
                  <a:pt x="954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085"/>
                </a:lnTo>
                <a:lnTo>
                  <a:pt x="43200" y="35085"/>
                </a:lnTo>
                <a:cubicBezTo>
                  <a:pt x="42705" y="35175"/>
                  <a:pt x="34680" y="36601"/>
                  <a:pt x="22022" y="38293"/>
                </a:cubicBezTo>
                <a:close/>
              </a:path>
            </a:pathLst>
          </a:custGeom>
          <a:solidFill>
            <a:schemeClr val="accent1">
              <a:alpha val="4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44464928" name="Shape 1065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937" y="38673"/>
                </a:moveTo>
                <a:lnTo>
                  <a:pt x="21937" y="38673"/>
                </a:lnTo>
                <a:cubicBezTo>
                  <a:pt x="4591" y="40992"/>
                  <a:pt x="-3491" y="38448"/>
                  <a:pt x="7299" y="6427"/>
                </a:cubicBezTo>
                <a:lnTo>
                  <a:pt x="7299" y="6427"/>
                </a:lnTo>
                <a:cubicBezTo>
                  <a:pt x="8570" y="2655"/>
                  <a:pt x="9336" y="352"/>
                  <a:pt x="9449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453"/>
                </a:lnTo>
                <a:lnTo>
                  <a:pt x="43200" y="35453"/>
                </a:lnTo>
                <a:cubicBezTo>
                  <a:pt x="42570" y="35561"/>
                  <a:pt x="34558" y="36985"/>
                  <a:pt x="21937" y="38673"/>
                </a:cubicBezTo>
                <a:close/>
              </a:path>
            </a:pathLst>
          </a:custGeom>
          <a:solidFill>
            <a:schemeClr val="accent1">
              <a:alpha val="5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26904790" name="Shape 1066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853" y="39052"/>
                </a:moveTo>
                <a:lnTo>
                  <a:pt x="21853" y="39052"/>
                </a:lnTo>
                <a:cubicBezTo>
                  <a:pt x="4466" y="41377"/>
                  <a:pt x="-3715" y="38855"/>
                  <a:pt x="7204" y="6453"/>
                </a:cubicBezTo>
                <a:lnTo>
                  <a:pt x="7204" y="6453"/>
                </a:lnTo>
                <a:cubicBezTo>
                  <a:pt x="8461" y="2724"/>
                  <a:pt x="9225" y="411"/>
                  <a:pt x="9357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5822"/>
                </a:lnTo>
                <a:lnTo>
                  <a:pt x="43200" y="35822"/>
                </a:lnTo>
                <a:cubicBezTo>
                  <a:pt x="42480" y="35948"/>
                  <a:pt x="34436" y="37369"/>
                  <a:pt x="21853" y="39052"/>
                </a:cubicBezTo>
                <a:close/>
              </a:path>
            </a:pathLst>
          </a:custGeom>
          <a:solidFill>
            <a:schemeClr val="accent1">
              <a:alpha val="63999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933662711" name="Shape 1067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768" y="39431"/>
                </a:moveTo>
                <a:lnTo>
                  <a:pt x="21768" y="39431"/>
                </a:lnTo>
                <a:cubicBezTo>
                  <a:pt x="4340" y="41761"/>
                  <a:pt x="-3939" y="39262"/>
                  <a:pt x="7109" y="6478"/>
                </a:cubicBezTo>
                <a:lnTo>
                  <a:pt x="7109" y="6478"/>
                </a:lnTo>
                <a:cubicBezTo>
                  <a:pt x="8351" y="2792"/>
                  <a:pt x="9114" y="470"/>
                  <a:pt x="9265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190"/>
                </a:lnTo>
                <a:lnTo>
                  <a:pt x="43200" y="36190"/>
                </a:lnTo>
                <a:cubicBezTo>
                  <a:pt x="42390" y="36334"/>
                  <a:pt x="34314" y="37753"/>
                  <a:pt x="21768" y="39431"/>
                </a:cubicBezTo>
                <a:close/>
              </a:path>
            </a:pathLst>
          </a:custGeom>
          <a:solidFill>
            <a:schemeClr val="accent1">
              <a:alpha val="73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01862894" name="Shape 1068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683" y="39810"/>
                </a:moveTo>
                <a:lnTo>
                  <a:pt x="21683" y="39810"/>
                </a:lnTo>
                <a:cubicBezTo>
                  <a:pt x="4214" y="42146"/>
                  <a:pt x="-4163" y="39669"/>
                  <a:pt x="7014" y="6504"/>
                </a:cubicBezTo>
                <a:lnTo>
                  <a:pt x="7014" y="6504"/>
                </a:lnTo>
                <a:cubicBezTo>
                  <a:pt x="8241" y="2861"/>
                  <a:pt x="9003" y="528"/>
                  <a:pt x="9172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558"/>
                </a:lnTo>
                <a:lnTo>
                  <a:pt x="43200" y="36558"/>
                </a:lnTo>
                <a:cubicBezTo>
                  <a:pt x="42300" y="36720"/>
                  <a:pt x="34192" y="38137"/>
                  <a:pt x="21683" y="39810"/>
                </a:cubicBezTo>
                <a:close/>
              </a:path>
            </a:pathLst>
          </a:custGeom>
          <a:solidFill>
            <a:schemeClr val="accent1">
              <a:alpha val="82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694345398" name="Shape 1069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99" y="40189"/>
                </a:moveTo>
                <a:lnTo>
                  <a:pt x="21599" y="40189"/>
                </a:lnTo>
                <a:cubicBezTo>
                  <a:pt x="4089" y="42530"/>
                  <a:pt x="-4386" y="40077"/>
                  <a:pt x="6918" y="6529"/>
                </a:cubicBezTo>
                <a:lnTo>
                  <a:pt x="6918" y="6529"/>
                </a:lnTo>
                <a:cubicBezTo>
                  <a:pt x="8131" y="2930"/>
                  <a:pt x="8892" y="587"/>
                  <a:pt x="9080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6926"/>
                </a:lnTo>
                <a:lnTo>
                  <a:pt x="43200" y="36926"/>
                </a:lnTo>
                <a:cubicBezTo>
                  <a:pt x="42165" y="37107"/>
                  <a:pt x="34070" y="38521"/>
                  <a:pt x="21599" y="40189"/>
                </a:cubicBezTo>
                <a:close/>
              </a:path>
            </a:pathLst>
          </a:custGeom>
          <a:solidFill>
            <a:schemeClr val="accent1">
              <a:alpha val="91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593955658" name="Shape 1070"/>
          <p:cNvSpPr>
            <a:spLocks noChangeArrowheads="1" noGrp="1"/>
          </p:cNvSpPr>
          <p:nvPr userDrawn="1"/>
        </p:nvSpPr>
        <p:spPr bwMode="auto">
          <a:xfrm>
            <a:off x="0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1514" y="40568"/>
                </a:moveTo>
                <a:lnTo>
                  <a:pt x="21514" y="40568"/>
                </a:lnTo>
                <a:cubicBezTo>
                  <a:pt x="3963" y="42915"/>
                  <a:pt x="-4610" y="40484"/>
                  <a:pt x="6823" y="6555"/>
                </a:cubicBezTo>
                <a:lnTo>
                  <a:pt x="6823" y="6555"/>
                </a:lnTo>
                <a:cubicBezTo>
                  <a:pt x="8022" y="2999"/>
                  <a:pt x="8781" y="646"/>
                  <a:pt x="8988" y="0"/>
                </a:cubicBezTo>
                <a:lnTo>
                  <a:pt x="8597" y="0"/>
                </a:lnTo>
                <a:lnTo>
                  <a:pt x="8597" y="0"/>
                </a:lnTo>
                <a:cubicBezTo>
                  <a:pt x="8597" y="0"/>
                  <a:pt x="7784" y="2374"/>
                  <a:pt x="6346" y="6641"/>
                </a:cubicBezTo>
                <a:lnTo>
                  <a:pt x="6346" y="6641"/>
                </a:lnTo>
                <a:cubicBezTo>
                  <a:pt x="-5238" y="41016"/>
                  <a:pt x="3448" y="43478"/>
                  <a:pt x="21229" y="41101"/>
                </a:cubicBezTo>
                <a:lnTo>
                  <a:pt x="21229" y="41101"/>
                </a:lnTo>
                <a:cubicBezTo>
                  <a:pt x="34825" y="39282"/>
                  <a:pt x="43200" y="37760"/>
                  <a:pt x="43200" y="37760"/>
                </a:cubicBezTo>
                <a:lnTo>
                  <a:pt x="43200" y="37295"/>
                </a:lnTo>
                <a:lnTo>
                  <a:pt x="43200" y="37295"/>
                </a:lnTo>
                <a:cubicBezTo>
                  <a:pt x="42075" y="37493"/>
                  <a:pt x="33948" y="38905"/>
                  <a:pt x="21514" y="40568"/>
                </a:cubicBez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973020729" name="Title 1"/>
          <p:cNvSpPr>
            <a:spLocks noGrp="1"/>
          </p:cNvSpPr>
          <p:nvPr>
            <p:ph type="title"/>
          </p:nvPr>
        </p:nvSpPr>
        <p:spPr bwMode="auto">
          <a:xfrm>
            <a:off x="1583498" y="274638"/>
            <a:ext cx="99989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251615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9264351" y="6356350"/>
            <a:ext cx="23180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	</a:t>
            </a:r>
            <a:fld id="{F8E3F0E9-0FC2-4DDE-87CF-3BA6A04EA4CC}" type="slidenum">
              <a:rPr/>
              <a:t>‹#›</a:t>
            </a:fld>
            <a:endParaRPr/>
          </a:p>
        </p:txBody>
      </p:sp>
      <p:sp>
        <p:nvSpPr>
          <p:cNvPr id="19117412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619018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6EB4D43-F783-4E09-8208-6AA351DBC29B}" type="datetimeFigureOut">
              <a:rPr/>
              <a:t>22.10.2013</a:t>
            </a:fld>
            <a:endParaRPr/>
          </a:p>
        </p:txBody>
      </p:sp>
      <p:sp>
        <p:nvSpPr>
          <p:cNvPr id="173160777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5125706" y="6356350"/>
            <a:ext cx="35625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843999" name=""/>
          <p:cNvSpPr txBox="1"/>
          <p:nvPr/>
        </p:nvSpPr>
        <p:spPr bwMode="auto">
          <a:xfrm rot="0" flipH="0" flipV="0">
            <a:off x="1827248" y="1040583"/>
            <a:ext cx="9262683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9600" b="1">
                <a:solidFill>
                  <a:srgbClr val="7030A0"/>
                </a:solidFill>
                <a:latin typeface="Arial Rounded MT Bold"/>
                <a:ea typeface="Arial Rounded MT Bold"/>
                <a:cs typeface="Arial Rounded MT Bold"/>
              </a:rPr>
              <a:t>SOCIAL </a:t>
            </a:r>
            <a:r>
              <a:rPr sz="9600" b="1">
                <a:solidFill>
                  <a:srgbClr val="7030A0"/>
                </a:solidFill>
                <a:latin typeface="Arial Rounded MT Bold"/>
                <a:ea typeface="Arial Rounded MT Bold"/>
                <a:cs typeface="Arial Rounded MT Bold"/>
              </a:rPr>
              <a:t>MEDIA</a:t>
            </a:r>
            <a:endParaRPr sz="7200"/>
          </a:p>
        </p:txBody>
      </p:sp>
      <p:sp>
        <p:nvSpPr>
          <p:cNvPr id="1030296857" name=""/>
          <p:cNvSpPr txBox="1"/>
          <p:nvPr/>
        </p:nvSpPr>
        <p:spPr bwMode="auto">
          <a:xfrm rot="0" flipH="0" flipV="0">
            <a:off x="1906623" y="3063873"/>
            <a:ext cx="856202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800" b="0" i="0" u="none">
                <a:solidFill>
                  <a:srgbClr val="000000"/>
                </a:solidFill>
                <a:latin typeface="Elephant"/>
                <a:ea typeface="Elephant"/>
                <a:cs typeface="Elephant"/>
              </a:rPr>
              <a:t>The Impact of Social Media on Modern Society</a:t>
            </a:r>
            <a:endParaRPr sz="2800"/>
          </a:p>
        </p:txBody>
      </p:sp>
      <p:sp>
        <p:nvSpPr>
          <p:cNvPr id="273996909" name=""/>
          <p:cNvSpPr txBox="1"/>
          <p:nvPr/>
        </p:nvSpPr>
        <p:spPr bwMode="auto">
          <a:xfrm rot="0" flipH="0" flipV="0">
            <a:off x="8605873" y="4492623"/>
            <a:ext cx="4074588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Submitted by:</a:t>
            </a:r>
            <a:endParaRPr b="1"/>
          </a:p>
          <a:p>
            <a:pPr>
              <a:defRPr/>
            </a:pPr>
            <a:r>
              <a:rPr b="1"/>
              <a:t>Ishan Giri</a:t>
            </a:r>
            <a:endParaRPr b="1"/>
          </a:p>
          <a:p>
            <a:pPr>
              <a:defRPr/>
            </a:pPr>
            <a:r>
              <a:rPr b="1"/>
              <a:t>Roll no:17</a:t>
            </a:r>
            <a:endParaRPr b="1"/>
          </a:p>
        </p:txBody>
      </p:sp>
      <p:sp>
        <p:nvSpPr>
          <p:cNvPr id="52876676" name=""/>
          <p:cNvSpPr txBox="1"/>
          <p:nvPr/>
        </p:nvSpPr>
        <p:spPr bwMode="auto">
          <a:xfrm rot="0" flipH="0" flipV="0">
            <a:off x="1828873" y="4492623"/>
            <a:ext cx="366888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b="1"/>
              <a:t>Submitted to:</a:t>
            </a:r>
            <a:endParaRPr b="1"/>
          </a:p>
          <a:p>
            <a:pPr>
              <a:defRPr/>
            </a:pPr>
            <a:r>
              <a:rPr b="1"/>
              <a:t>Ajit Ojha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92393" name=""/>
          <p:cNvSpPr txBox="1"/>
          <p:nvPr/>
        </p:nvSpPr>
        <p:spPr bwMode="auto">
          <a:xfrm rot="0" flipH="0" flipV="0">
            <a:off x="636624" y="444498"/>
            <a:ext cx="5584688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rgbClr val="FF0000"/>
                </a:solidFill>
                <a:latin typeface="Arial Black"/>
                <a:ea typeface="Arial Black"/>
                <a:cs typeface="Arial Black"/>
              </a:rPr>
              <a:t>Introduction</a:t>
            </a:r>
            <a:r>
              <a:rPr sz="2800" b="1">
                <a:solidFill>
                  <a:srgbClr val="FF0000"/>
                </a:solidFill>
                <a:latin typeface="Arial Black"/>
                <a:ea typeface="Arial Black"/>
                <a:cs typeface="Arial Black"/>
              </a:rPr>
              <a:t>:</a:t>
            </a:r>
            <a:endParaRPr/>
          </a:p>
        </p:txBody>
      </p:sp>
      <p:sp>
        <p:nvSpPr>
          <p:cNvPr id="1776662773" name=""/>
          <p:cNvSpPr txBox="1"/>
          <p:nvPr/>
        </p:nvSpPr>
        <p:spPr bwMode="auto">
          <a:xfrm rot="0" flipH="0" flipV="0">
            <a:off x="795373" y="2778123"/>
            <a:ext cx="7607363" cy="3078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2200">
                <a:latin typeface="Arial Rounded MT Bold"/>
                <a:ea typeface="Arial Rounded MT Bold"/>
                <a:cs typeface="Arial Rounded MT Bold"/>
              </a:rPr>
              <a:t>A place to connect:</a:t>
            </a:r>
            <a:r>
              <a:rPr sz="1800"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It is a collection of apps and websites t</a:t>
            </a:r>
            <a:r>
              <a:rPr sz="1800" b="0" i="0" u="none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hat let us create and share content like photos, videos, and thoughts instantly</a:t>
            </a:r>
            <a:endParaRPr sz="1800" b="0" i="0" u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  <a:p>
            <a:pPr marL="283879" indent="-283879">
              <a:buFont typeface="Arial"/>
              <a:buChar char="•"/>
              <a:defRPr/>
            </a:pPr>
            <a:endParaRPr/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Virtual Hangout:</a:t>
            </a:r>
            <a:r>
              <a:rPr sz="2200" b="0" i="0" u="none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Its like a giant digital park where people from all over the world meet to talk and hang out.</a:t>
            </a:r>
            <a:endParaRPr sz="1800">
              <a:latin typeface="Arial Rounded MT Bold"/>
              <a:ea typeface="Arial Rounded MT Bold"/>
              <a:cs typeface="Arial Rounded MT Bold"/>
            </a:endParaRPr>
          </a:p>
          <a:p>
            <a:pPr marL="283879" indent="-283879">
              <a:buFont typeface="Arial"/>
              <a:buChar char="•"/>
              <a:defRPr/>
            </a:pPr>
            <a:endParaRPr sz="2200"/>
          </a:p>
          <a:p>
            <a:pPr marL="283879" indent="-283879">
              <a:buFont typeface="Arial"/>
              <a:buChar char="•"/>
              <a:defRPr/>
            </a:pPr>
            <a:r>
              <a:rPr lang="en-US" sz="2200" b="0" i="0" u="none" strike="noStrike" cap="none" spc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Not only chatting: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 </a:t>
            </a:r>
            <a:r>
              <a:rPr sz="1800" b="0" i="0" u="none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We use it for many things now, like watching news, shopping, learning new skills, and even finding jobs.</a:t>
            </a:r>
            <a:endParaRPr/>
          </a:p>
        </p:txBody>
      </p:sp>
      <p:sp>
        <p:nvSpPr>
          <p:cNvPr id="36106179" name=""/>
          <p:cNvSpPr txBox="1"/>
          <p:nvPr/>
        </p:nvSpPr>
        <p:spPr bwMode="auto">
          <a:xfrm rot="0" flipH="0" flipV="0">
            <a:off x="954123" y="1428750"/>
            <a:ext cx="482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365252116" name=""/>
          <p:cNvSpPr txBox="1"/>
          <p:nvPr/>
        </p:nvSpPr>
        <p:spPr bwMode="auto">
          <a:xfrm rot="0" flipH="0" flipV="0">
            <a:off x="794561" y="1698624"/>
            <a:ext cx="4904618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600" b="1">
                <a:solidFill>
                  <a:srgbClr val="0070C0"/>
                </a:solidFill>
              </a:rPr>
              <a:t>What is Social Media?</a:t>
            </a:r>
            <a:endParaRPr/>
          </a:p>
        </p:txBody>
      </p:sp>
      <p:pic>
        <p:nvPicPr>
          <p:cNvPr id="51531225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59328" y="1880775"/>
            <a:ext cx="3740546" cy="33094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825903" name=""/>
          <p:cNvSpPr txBox="1"/>
          <p:nvPr/>
        </p:nvSpPr>
        <p:spPr bwMode="auto">
          <a:xfrm rot="0" flipH="0" flipV="0">
            <a:off x="334188" y="428625"/>
            <a:ext cx="576577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3600" b="0" i="0" u="none">
                <a:solidFill>
                  <a:srgbClr val="FF0000"/>
                </a:solidFill>
                <a:latin typeface="Arial Black"/>
                <a:ea typeface="Arial Black"/>
                <a:cs typeface="Arial Black"/>
              </a:rPr>
              <a:t>The Positive Impact:</a:t>
            </a:r>
            <a:endParaRPr/>
          </a:p>
        </p:txBody>
      </p:sp>
      <p:pic>
        <p:nvPicPr>
          <p:cNvPr id="75564620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4563" y="1396999"/>
            <a:ext cx="2381249" cy="1904999"/>
          </a:xfrm>
          <a:prstGeom prst="rect">
            <a:avLst/>
          </a:prstGeom>
        </p:spPr>
      </p:pic>
      <p:pic>
        <p:nvPicPr>
          <p:cNvPr id="10340512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540249" y="1396999"/>
            <a:ext cx="2381249" cy="1904999"/>
          </a:xfrm>
          <a:prstGeom prst="rect">
            <a:avLst/>
          </a:prstGeom>
        </p:spPr>
      </p:pic>
      <p:pic>
        <p:nvPicPr>
          <p:cNvPr id="187499902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23249" y="1396999"/>
            <a:ext cx="2381249" cy="1904999"/>
          </a:xfrm>
          <a:prstGeom prst="rect">
            <a:avLst/>
          </a:prstGeom>
        </p:spPr>
      </p:pic>
      <p:sp>
        <p:nvSpPr>
          <p:cNvPr id="282159973" name=""/>
          <p:cNvSpPr txBox="1"/>
          <p:nvPr/>
        </p:nvSpPr>
        <p:spPr bwMode="auto">
          <a:xfrm rot="0" flipH="0" flipV="0">
            <a:off x="1160498" y="3825873"/>
            <a:ext cx="7980408" cy="2469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Educational Resources: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Instant access to tutorials, global news, and expert opinions.</a:t>
            </a:r>
            <a:endParaRPr sz="1800" b="1" i="0" u="none">
              <a:solidFill>
                <a:srgbClr val="000000"/>
              </a:solidFill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endParaRPr sz="1800" b="1" i="0" u="none">
              <a:solidFill>
                <a:srgbClr val="000000"/>
              </a:solidFill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Community Building: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Finding groups with shared interests or supporting social causes.</a:t>
            </a:r>
            <a:endParaRPr sz="1800"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endParaRPr sz="1800">
              <a:latin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Skill Development: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Learning digital literacy, content creation, and marketing.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487267" name=""/>
          <p:cNvSpPr txBox="1"/>
          <p:nvPr/>
        </p:nvSpPr>
        <p:spPr bwMode="auto">
          <a:xfrm rot="0" flipH="0" flipV="0">
            <a:off x="176247" y="285747"/>
            <a:ext cx="624247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rgbClr val="FF0000"/>
                </a:solidFill>
                <a:latin typeface="Arial Black"/>
                <a:ea typeface="Arial Black"/>
                <a:cs typeface="Arial Black"/>
              </a:rPr>
              <a:t>Challenges and Risks:</a:t>
            </a:r>
            <a:endParaRPr/>
          </a:p>
        </p:txBody>
      </p:sp>
      <p:sp>
        <p:nvSpPr>
          <p:cNvPr id="1533369411" name=""/>
          <p:cNvSpPr txBox="1"/>
          <p:nvPr/>
        </p:nvSpPr>
        <p:spPr bwMode="auto">
          <a:xfrm rot="0" flipH="0" flipV="0">
            <a:off x="8129623" y="3032123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170425428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21442" y="917120"/>
            <a:ext cx="3770311" cy="3746498"/>
          </a:xfrm>
          <a:prstGeom prst="rect">
            <a:avLst/>
          </a:prstGeom>
        </p:spPr>
      </p:pic>
      <p:sp>
        <p:nvSpPr>
          <p:cNvPr id="126021417" name=""/>
          <p:cNvSpPr txBox="1"/>
          <p:nvPr/>
        </p:nvSpPr>
        <p:spPr bwMode="auto">
          <a:xfrm rot="0" flipH="0" flipV="0">
            <a:off x="748613" y="2734128"/>
            <a:ext cx="7407467" cy="2469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Mental </a:t>
            </a: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Health: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The link between excessive "screen time" and anxiety or decreased self-esteem.</a:t>
            </a:r>
            <a:endParaRPr sz="1800">
              <a:latin typeface="Arial Black"/>
              <a:ea typeface="Arial Black"/>
              <a:cs typeface="Arial Black"/>
            </a:endParaRPr>
          </a:p>
          <a:p>
            <a:pPr marL="283878" indent="-283878">
              <a:buFont typeface="Arial"/>
              <a:buChar char="•"/>
              <a:defRPr/>
            </a:pPr>
            <a:endParaRPr sz="1800">
              <a:latin typeface="Arial Black"/>
              <a:cs typeface="Arial Black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Privacy &amp; Security:</a:t>
            </a: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The importance of protecting personal data and understanding algorithms.</a:t>
            </a:r>
            <a:endParaRPr sz="1800">
              <a:latin typeface="Arial Black"/>
              <a:ea typeface="Arial Black"/>
              <a:cs typeface="Arial Black"/>
            </a:endParaRPr>
          </a:p>
          <a:p>
            <a:pPr marL="283878" indent="-283878">
              <a:buFont typeface="Arial"/>
              <a:buChar char="•"/>
              <a:defRPr/>
            </a:pPr>
            <a:endParaRPr sz="1800">
              <a:latin typeface="Arial Black"/>
              <a:cs typeface="Arial Black"/>
            </a:endParaRPr>
          </a:p>
          <a:p>
            <a:pPr marL="283878" indent="-283878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Digital Footprint:</a:t>
            </a: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How what we post today can affect our future college or job opportunities.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696773" name=""/>
          <p:cNvSpPr txBox="1"/>
          <p:nvPr/>
        </p:nvSpPr>
        <p:spPr bwMode="auto">
          <a:xfrm rot="0" flipH="0" flipV="0">
            <a:off x="715998" y="412749"/>
            <a:ext cx="556020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0" i="0" u="none">
                <a:solidFill>
                  <a:srgbClr val="FF0000"/>
                </a:solidFill>
                <a:latin typeface="Arial Black"/>
                <a:ea typeface="Arial Black"/>
                <a:cs typeface="Arial Black"/>
              </a:rPr>
              <a:t>How to Use It Wisely:</a:t>
            </a:r>
            <a:endParaRPr sz="3600">
              <a:solidFill>
                <a:srgbClr val="FF0000"/>
              </a:solidFill>
              <a:latin typeface="Arial Black"/>
              <a:cs typeface="Arial Black"/>
            </a:endParaRPr>
          </a:p>
        </p:txBody>
      </p:sp>
      <p:pic>
        <p:nvPicPr>
          <p:cNvPr id="31200279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762999" y="1111249"/>
            <a:ext cx="3287749" cy="3967218"/>
          </a:xfrm>
          <a:prstGeom prst="rect">
            <a:avLst/>
          </a:prstGeom>
        </p:spPr>
      </p:pic>
      <p:sp>
        <p:nvSpPr>
          <p:cNvPr id="1132257322" name=""/>
          <p:cNvSpPr txBox="1"/>
          <p:nvPr/>
        </p:nvSpPr>
        <p:spPr bwMode="auto">
          <a:xfrm rot="0" flipH="0" flipV="0">
            <a:off x="1287498" y="1127124"/>
            <a:ext cx="9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93389531" name=""/>
          <p:cNvSpPr txBox="1"/>
          <p:nvPr/>
        </p:nvSpPr>
        <p:spPr bwMode="auto">
          <a:xfrm rot="0" flipH="0" flipV="0">
            <a:off x="873936" y="2238373"/>
            <a:ext cx="6390388" cy="30178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Time Management: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Utilizing "Do Not Disturb" modes and setting app limits.</a:t>
            </a:r>
            <a:endParaRPr sz="1800"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endParaRPr sz="1800">
              <a:latin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Critical Thinking:</a:t>
            </a: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Verifying information before sharing to stop the spread of "fake news."</a:t>
            </a:r>
            <a:endParaRPr sz="1800"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endParaRPr sz="1800">
              <a:latin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Protect Your Privacy:</a:t>
            </a: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Check your settings often. Keep your personal info (like your home address or school) private.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742576" name=""/>
          <p:cNvSpPr txBox="1"/>
          <p:nvPr/>
        </p:nvSpPr>
        <p:spPr bwMode="auto">
          <a:xfrm rot="0" flipH="0" flipV="0">
            <a:off x="350062" y="349248"/>
            <a:ext cx="496055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rgbClr val="FF0000"/>
                </a:solidFill>
                <a:latin typeface="Arial Black"/>
                <a:ea typeface="Arial Black"/>
                <a:cs typeface="Arial Black"/>
              </a:rPr>
              <a:t>Conclusion:</a:t>
            </a:r>
            <a:endParaRPr sz="3600">
              <a:solidFill>
                <a:srgbClr val="FF0000"/>
              </a:solidFill>
              <a:latin typeface="Arial Black"/>
              <a:cs typeface="Arial Black"/>
            </a:endParaRPr>
          </a:p>
        </p:txBody>
      </p:sp>
      <p:sp>
        <p:nvSpPr>
          <p:cNvPr id="1534865510" name=""/>
          <p:cNvSpPr txBox="1"/>
          <p:nvPr/>
        </p:nvSpPr>
        <p:spPr bwMode="auto">
          <a:xfrm rot="0" flipH="0" flipV="0">
            <a:off x="1254937" y="1396998"/>
            <a:ext cx="8847018" cy="2438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Social media is a powerful tool that requires a balance of fun and responsibility.</a:t>
            </a:r>
            <a:endParaRPr sz="2200"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endParaRPr sz="2200">
              <a:latin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Control Social Media by you; don't let Social Media control you.</a:t>
            </a:r>
            <a:endParaRPr sz="2200">
              <a:latin typeface="Arial Black"/>
              <a:ea typeface="Arial Black"/>
              <a:cs typeface="Arial Black"/>
            </a:endParaRPr>
          </a:p>
          <a:p>
            <a:pPr marL="283879" indent="-283879">
              <a:buFont typeface="Arial"/>
              <a:buChar char="•"/>
              <a:defRPr/>
            </a:pPr>
            <a:endParaRPr sz="2200"/>
          </a:p>
          <a:p>
            <a:pPr marL="283879" indent="-283879">
              <a:buFont typeface="Arial"/>
              <a:buChar char="•"/>
              <a:defRPr/>
            </a:pPr>
            <a:r>
              <a:rPr sz="2200" b="0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Keep your private information private.</a:t>
            </a:r>
            <a:endParaRPr sz="2200"/>
          </a:p>
        </p:txBody>
      </p:sp>
      <p:sp>
        <p:nvSpPr>
          <p:cNvPr id="1756661868" name=""/>
          <p:cNvSpPr txBox="1"/>
          <p:nvPr/>
        </p:nvSpPr>
        <p:spPr bwMode="auto">
          <a:xfrm rot="0" flipH="0" flipV="0">
            <a:off x="1471154" y="4159248"/>
            <a:ext cx="925220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>
                <a:solidFill>
                  <a:schemeClr val="accent2">
                    <a:lumMod val="75000"/>
                  </a:schemeClr>
                </a:solidFill>
                <a:latin typeface="Arial Black"/>
                <a:ea typeface="Arial Black"/>
                <a:cs typeface="Arial Black"/>
              </a:rPr>
              <a:t>At the end; </a:t>
            </a:r>
            <a:r>
              <a:rPr sz="2200" b="0" i="0" u="none">
                <a:solidFill>
                  <a:schemeClr val="accent2">
                    <a:lumMod val="75000"/>
                  </a:schemeClr>
                </a:solidFill>
                <a:latin typeface="Arial Black"/>
                <a:ea typeface="Arial Black"/>
                <a:cs typeface="Arial Black"/>
              </a:rPr>
              <a:t>Social media should be used to enhance your life, not replace it.</a:t>
            </a:r>
            <a:endParaRPr i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orn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2026-01-31T10:40:29Z</dcterms:modified>
</cp:coreProperties>
</file>